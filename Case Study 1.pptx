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1"/>
  </p:sldMasterIdLst>
  <p:notesMasterIdLst>
    <p:notesMasterId r:id="rId17"/>
  </p:notesMasterIdLst>
  <p:sldIdLst>
    <p:sldId id="256" r:id="rId2"/>
    <p:sldId id="259" r:id="rId3"/>
    <p:sldId id="257" r:id="rId4"/>
    <p:sldId id="258" r:id="rId5"/>
    <p:sldId id="266" r:id="rId6"/>
    <p:sldId id="267" r:id="rId7"/>
    <p:sldId id="261" r:id="rId8"/>
    <p:sldId id="260" r:id="rId9"/>
    <p:sldId id="262" r:id="rId10"/>
    <p:sldId id="263" r:id="rId11"/>
    <p:sldId id="264" r:id="rId12"/>
    <p:sldId id="265" r:id="rId13"/>
    <p:sldId id="268" r:id="rId14"/>
    <p:sldId id="271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75"/>
    <p:restoredTop sz="92386"/>
  </p:normalViewPr>
  <p:slideViewPr>
    <p:cSldViewPr snapToGrid="0">
      <p:cViewPr varScale="1">
        <p:scale>
          <a:sx n="143" d="100"/>
          <a:sy n="143" d="100"/>
        </p:scale>
        <p:origin x="11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F330D2-014D-9D40-8862-FDF6524CDE2A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02D223-F133-1C43-A591-C4B50CC36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841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Don’t read objectives during presentation. More conversational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D223-F133-1C43-A591-C4B50CC3617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8202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attrition legend larger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D223-F133-1C43-A591-C4B50CC3617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2107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3 slides. 1 factor per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D223-F133-1C43-A591-C4B50CC3617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0733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as is. Remove legends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D223-F133-1C43-A591-C4B50CC3617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2049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 to slide before it comes on screen. Make text bigger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D223-F133-1C43-A591-C4B50CC3617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386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Changed K to 39 and threshold to 15%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D223-F133-1C43-A591-C4B50CC3617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8648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Changed threshold to 17%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D223-F133-1C43-A591-C4B50CC3617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150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600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334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553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10/24/26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520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10/24/26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386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10/24/26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655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10/24/26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49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10/24/26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581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10/24/26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673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828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709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668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72" r:id="rId6"/>
    <p:sldLayoutId id="2147483667" r:id="rId7"/>
    <p:sldLayoutId id="2147483668" r:id="rId8"/>
    <p:sldLayoutId id="2147483669" r:id="rId9"/>
    <p:sldLayoutId id="2147483671" r:id="rId10"/>
    <p:sldLayoutId id="214748367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E448DB1-4196-18A6-15DA-C72635C1B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A9149B-2202-B229-C847-179B172383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49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F15DF8A-891A-1965-E372-1BA1F3B945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79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3000"/>
                </a:schemeClr>
              </a:gs>
              <a:gs pos="26000">
                <a:schemeClr val="bg1">
                  <a:alpha val="20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642911-D3E1-6AFC-1273-99998B8C1D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0908" y="4686786"/>
            <a:ext cx="5160166" cy="1679180"/>
          </a:xfrm>
        </p:spPr>
        <p:txBody>
          <a:bodyPr anchor="b">
            <a:normAutofit/>
          </a:bodyPr>
          <a:lstStyle/>
          <a:p>
            <a:r>
              <a:rPr lang="en-US" sz="5400" dirty="0"/>
              <a:t>Case Study 1</a:t>
            </a:r>
          </a:p>
        </p:txBody>
      </p:sp>
    </p:spTree>
    <p:extLst>
      <p:ext uri="{BB962C8B-B14F-4D97-AF65-F5344CB8AC3E}">
        <p14:creationId xmlns:p14="http://schemas.microsoft.com/office/powerpoint/2010/main" val="28395367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19C8F-732D-78A7-41FA-2C535A8BA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A40EDD-CE33-B4E2-54E1-BA45F797C4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Build a model to identify the top 3 factors leading to attrition for Frito Lay. </a:t>
            </a:r>
          </a:p>
          <a:p>
            <a:r>
              <a:rPr lang="en-US" dirty="0"/>
              <a:t>Explore employee characteristics to identify and explain trends and observations from the data.</a:t>
            </a:r>
          </a:p>
          <a:p>
            <a:r>
              <a:rPr lang="en-US" dirty="0"/>
              <a:t>Build KNN and NB models to predict attrition.</a:t>
            </a:r>
          </a:p>
        </p:txBody>
      </p:sp>
    </p:spTree>
    <p:extLst>
      <p:ext uri="{BB962C8B-B14F-4D97-AF65-F5344CB8AC3E}">
        <p14:creationId xmlns:p14="http://schemas.microsoft.com/office/powerpoint/2010/main" val="579733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58C5D-1052-E95D-18AE-0887C0829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Frito Lay Attrition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C8CAD-37CA-1EA0-382D-A8A80C9FF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5483353" cy="4593828"/>
          </a:xfrm>
        </p:spPr>
        <p:txBody>
          <a:bodyPr/>
          <a:lstStyle/>
          <a:p>
            <a:r>
              <a:rPr lang="en-US" dirty="0"/>
              <a:t>There were 870 employees in the given dataset. </a:t>
            </a:r>
          </a:p>
          <a:p>
            <a:r>
              <a:rPr lang="en-US" dirty="0"/>
              <a:t>16.09% of employees left the company (Labeled as Attrition).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E4B3EE-88BA-D552-AF85-FC07921A54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190"/>
          <a:stretch>
            <a:fillRect/>
          </a:stretch>
        </p:blipFill>
        <p:spPr>
          <a:xfrm>
            <a:off x="6095998" y="2242458"/>
            <a:ext cx="6032824" cy="4066902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5799C33-1126-B1B2-A9A6-D54C761EA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8494214"/>
              </p:ext>
            </p:extLst>
          </p:nvPr>
        </p:nvGraphicFramePr>
        <p:xfrm>
          <a:off x="612646" y="3365047"/>
          <a:ext cx="5483352" cy="18888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7784">
                  <a:extLst>
                    <a:ext uri="{9D8B030D-6E8A-4147-A177-3AD203B41FA5}">
                      <a16:colId xmlns:a16="http://schemas.microsoft.com/office/drawing/2014/main" val="3287419595"/>
                    </a:ext>
                  </a:extLst>
                </a:gridCol>
                <a:gridCol w="1827784">
                  <a:extLst>
                    <a:ext uri="{9D8B030D-6E8A-4147-A177-3AD203B41FA5}">
                      <a16:colId xmlns:a16="http://schemas.microsoft.com/office/drawing/2014/main" val="1718641912"/>
                    </a:ext>
                  </a:extLst>
                </a:gridCol>
                <a:gridCol w="1827784">
                  <a:extLst>
                    <a:ext uri="{9D8B030D-6E8A-4147-A177-3AD203B41FA5}">
                      <a16:colId xmlns:a16="http://schemas.microsoft.com/office/drawing/2014/main" val="1085867372"/>
                    </a:ext>
                  </a:extLst>
                </a:gridCol>
              </a:tblGrid>
              <a:tr h="6296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Attrition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Attrition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6314921"/>
                  </a:ext>
                </a:extLst>
              </a:tr>
              <a:tr h="629612">
                <a:tc>
                  <a:txBody>
                    <a:bodyPr/>
                    <a:lstStyle/>
                    <a:p>
                      <a:r>
                        <a:rPr lang="en-US" dirty="0"/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1470206"/>
                  </a:ext>
                </a:extLst>
              </a:tr>
              <a:tr h="629612">
                <a:tc>
                  <a:txBody>
                    <a:bodyPr/>
                    <a:lstStyle/>
                    <a:p>
                      <a:r>
                        <a:rPr lang="en-US" dirty="0"/>
                        <a:t>Percentage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16.09%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83.91%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6112331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8D1F5C52-F5C0-1AF6-CE61-32EC77C334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1769" t="39833" b="41172"/>
          <a:stretch>
            <a:fillRect/>
          </a:stretch>
        </p:blipFill>
        <p:spPr>
          <a:xfrm>
            <a:off x="8624729" y="861792"/>
            <a:ext cx="975361" cy="1380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218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69B0F-1A69-BE0C-B321-06AA043CE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factors may lead to Attrition?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7B1FE-EA6A-C52C-A03F-FBD2B7801E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4766176" cy="4351338"/>
          </a:xfrm>
        </p:spPr>
        <p:txBody>
          <a:bodyPr>
            <a:normAutofit/>
          </a:bodyPr>
          <a:lstStyle/>
          <a:p>
            <a:r>
              <a:rPr lang="en-US" sz="1600" dirty="0"/>
              <a:t>I tested Overtime rates on Attrition. </a:t>
            </a:r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I found that those who worked overtime were 3.27 times more likely to leave the company.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76CFD68-3C74-D63D-4765-D02785A389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589"/>
          <a:stretch>
            <a:fillRect/>
          </a:stretch>
        </p:blipFill>
        <p:spPr>
          <a:xfrm>
            <a:off x="6096000" y="1927921"/>
            <a:ext cx="5161171" cy="3463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622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7F287-2569-F981-1C06-A08BB86C5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factors may lead to Attrition?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238D0-1B8A-AEAE-80FB-B8FBF06221A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1600" dirty="0"/>
              <a:t>I tested Age on Attrition.</a:t>
            </a:r>
          </a:p>
          <a:p>
            <a:endParaRPr lang="en-US" sz="1600" dirty="0"/>
          </a:p>
          <a:p>
            <a:r>
              <a:rPr lang="en-US" sz="1600" dirty="0"/>
              <a:t>The youngest age group was 1.87 times more likely to leave the company than the oldest age group. </a:t>
            </a:r>
          </a:p>
          <a:p>
            <a:endParaRPr lang="en-US" sz="1600" dirty="0"/>
          </a:p>
          <a:p>
            <a:r>
              <a:rPr lang="en-US" sz="1600" dirty="0"/>
              <a:t>The median age group of 36-45 years of age had the lowest percentage of attrition at 9.49%.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49571C-974D-31A6-191C-977F622773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533"/>
          <a:stretch>
            <a:fillRect/>
          </a:stretch>
        </p:blipFill>
        <p:spPr>
          <a:xfrm>
            <a:off x="6096000" y="1825625"/>
            <a:ext cx="5951985" cy="3991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095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B140F-FBA8-D16A-4A7C-7F24203CD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factors may lead to Attrition?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071F7-4CDD-4630-470A-BE3412FEA96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1600" dirty="0"/>
              <a:t>I tested job satisfaction on Attrition.</a:t>
            </a:r>
          </a:p>
          <a:p>
            <a:endParaRPr lang="en-US" sz="1600" dirty="0"/>
          </a:p>
          <a:p>
            <a:r>
              <a:rPr lang="en-US" sz="1600" dirty="0"/>
              <a:t>Those with the lowest satisfaction scores were 2.06 times more likely to leave the company.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FD51E3-1B29-413F-74EF-1E7C27656C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048"/>
          <a:stretch>
            <a:fillRect/>
          </a:stretch>
        </p:blipFill>
        <p:spPr>
          <a:xfrm>
            <a:off x="5984079" y="1680898"/>
            <a:ext cx="5875405" cy="3962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465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8B6A5-CA1C-FCFC-1AD3-006AEB5F2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CD2F4-2BD6-E6E2-2F8F-ABF005790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factors that may lead to Attrition?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7D308-8679-22D2-C82D-83675F87B9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253331"/>
            <a:ext cx="4810999" cy="4351338"/>
          </a:xfrm>
        </p:spPr>
        <p:txBody>
          <a:bodyPr>
            <a:normAutofit/>
          </a:bodyPr>
          <a:lstStyle/>
          <a:p>
            <a:r>
              <a:rPr lang="en-US" sz="1400" dirty="0"/>
              <a:t>I tested Monthly Income rates on Attrition. </a:t>
            </a:r>
          </a:p>
          <a:p>
            <a:pPr lvl="1"/>
            <a:r>
              <a:rPr lang="en-US" sz="1200" dirty="0"/>
              <a:t>The smallest income group was 4.2 times more likely to leave the company than the largest income group. </a:t>
            </a:r>
          </a:p>
          <a:p>
            <a:r>
              <a:rPr lang="en-US" sz="1400" dirty="0"/>
              <a:t>Human Resources was the education field with the highest amount of attrition at 26.67%.</a:t>
            </a:r>
          </a:p>
          <a:p>
            <a:pPr lvl="1"/>
            <a:r>
              <a:rPr lang="en-US" sz="1200" dirty="0"/>
              <a:t>Medical was the education field with the smallest percent of attrition at 13.7%. </a:t>
            </a:r>
          </a:p>
          <a:p>
            <a:pPr lvl="1"/>
            <a:r>
              <a:rPr lang="en-US" sz="1200" dirty="0"/>
              <a:t>1.95 times more likely for HR to leave compared to Medical. </a:t>
            </a:r>
          </a:p>
          <a:p>
            <a:r>
              <a:rPr lang="en-US" sz="1400" dirty="0"/>
              <a:t>Employees that were single were 4.14 times more likely to leave the company compared to employees that were divorced. </a:t>
            </a:r>
          </a:p>
          <a:p>
            <a:pPr lvl="1"/>
            <a:r>
              <a:rPr lang="en-US" sz="1200" dirty="0"/>
              <a:t>26.02% attrition rate vs 6.28%. </a:t>
            </a:r>
          </a:p>
          <a:p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939E918-B3D8-5249-A4FF-2BC1E95B62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075"/>
          <a:stretch>
            <a:fillRect/>
          </a:stretch>
        </p:blipFill>
        <p:spPr>
          <a:xfrm>
            <a:off x="4750038" y="2568718"/>
            <a:ext cx="3331515" cy="224738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649FA2C-68FB-74E5-776E-4EF00CA18AE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8711"/>
          <a:stretch>
            <a:fillRect/>
          </a:stretch>
        </p:blipFill>
        <p:spPr>
          <a:xfrm>
            <a:off x="8142513" y="4365377"/>
            <a:ext cx="3709853" cy="249262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A9F7710-B4BA-E5F0-CEE1-B216351DF9C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9002"/>
          <a:stretch>
            <a:fillRect/>
          </a:stretch>
        </p:blipFill>
        <p:spPr>
          <a:xfrm>
            <a:off x="8183205" y="1114769"/>
            <a:ext cx="3669162" cy="247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639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3CE91-B4F6-A138-F659-1560D5723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 characteristics that account for largest differences in Attrition.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ABB49-F2AD-D06C-453E-37245F8B91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Monthly Income rates</a:t>
            </a:r>
          </a:p>
          <a:p>
            <a:pPr lvl="1"/>
            <a:r>
              <a:rPr lang="en-US" sz="1600" dirty="0"/>
              <a:t>Employees that made less than $5000 a month were 4.2 times more likely to leave the company than those making over $15000 a month. </a:t>
            </a:r>
          </a:p>
          <a:p>
            <a:r>
              <a:rPr lang="en-US" sz="1800" dirty="0"/>
              <a:t>Marital status</a:t>
            </a:r>
          </a:p>
          <a:p>
            <a:pPr lvl="1"/>
            <a:r>
              <a:rPr lang="en-US" dirty="0"/>
              <a:t>Single employees were 4.14 times more likely to leave the company than divorced employees. </a:t>
            </a:r>
          </a:p>
          <a:p>
            <a:r>
              <a:rPr lang="en-US" dirty="0"/>
              <a:t>Overtime rates </a:t>
            </a:r>
          </a:p>
          <a:p>
            <a:pPr lvl="1"/>
            <a:r>
              <a:rPr lang="en-US" sz="1600" dirty="0"/>
              <a:t>Employees that worked overtime were 3.27 times more likely to leave the company than those that did not.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806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E9329-A70E-4F42-30D1-018580AC2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D98CE-CF49-099A-0621-8731F5611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My KNN model confusion matrix gave the below results. Attrition is my positive value.</a:t>
            </a:r>
          </a:p>
          <a:p>
            <a:pPr lvl="1"/>
            <a:r>
              <a:rPr lang="en-US" dirty="0"/>
              <a:t>My accuracy was 65.52%</a:t>
            </a:r>
          </a:p>
          <a:p>
            <a:pPr lvl="1"/>
            <a:r>
              <a:rPr lang="en-US" dirty="0"/>
              <a:t>Sensitivity was 60.87%</a:t>
            </a:r>
          </a:p>
          <a:p>
            <a:pPr lvl="1"/>
            <a:r>
              <a:rPr lang="en-US" dirty="0"/>
              <a:t>Specificity was 66.51%.</a:t>
            </a:r>
          </a:p>
        </p:txBody>
      </p:sp>
    </p:spTree>
    <p:extLst>
      <p:ext uri="{BB962C8B-B14F-4D97-AF65-F5344CB8AC3E}">
        <p14:creationId xmlns:p14="http://schemas.microsoft.com/office/powerpoint/2010/main" val="2034867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491B1-792E-CF47-3080-C2D34B2C4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C25711-F983-EEC0-F823-834BE5ECC0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My NB model confusion matrix gave the below results. Attrition is my positive value.</a:t>
            </a:r>
          </a:p>
          <a:p>
            <a:pPr lvl="1"/>
            <a:r>
              <a:rPr lang="en-US" dirty="0"/>
              <a:t>My accuracy was 74.33%</a:t>
            </a:r>
          </a:p>
          <a:p>
            <a:pPr lvl="1"/>
            <a:r>
              <a:rPr lang="en-US" dirty="0"/>
              <a:t>Sensitivity was 65.22%</a:t>
            </a:r>
          </a:p>
          <a:p>
            <a:pPr lvl="1"/>
            <a:r>
              <a:rPr lang="en-US" dirty="0"/>
              <a:t>Specificity was 76.28%.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69245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CBF40-DAE4-B598-EA15-846782DAF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KNN vs NB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F42D28BB-572B-E93A-AE98-706C90207F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9763997"/>
              </p:ext>
            </p:extLst>
          </p:nvPr>
        </p:nvGraphicFramePr>
        <p:xfrm>
          <a:off x="612775" y="1716088"/>
          <a:ext cx="1065371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1237">
                  <a:extLst>
                    <a:ext uri="{9D8B030D-6E8A-4147-A177-3AD203B41FA5}">
                      <a16:colId xmlns:a16="http://schemas.microsoft.com/office/drawing/2014/main" val="1733257592"/>
                    </a:ext>
                  </a:extLst>
                </a:gridCol>
                <a:gridCol w="3551237">
                  <a:extLst>
                    <a:ext uri="{9D8B030D-6E8A-4147-A177-3AD203B41FA5}">
                      <a16:colId xmlns:a16="http://schemas.microsoft.com/office/drawing/2014/main" val="3997612034"/>
                    </a:ext>
                  </a:extLst>
                </a:gridCol>
                <a:gridCol w="3551237">
                  <a:extLst>
                    <a:ext uri="{9D8B030D-6E8A-4147-A177-3AD203B41FA5}">
                      <a16:colId xmlns:a16="http://schemas.microsoft.com/office/drawing/2014/main" val="18280216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08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65.52%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74.33%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5145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Sensitivity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60.87%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65.22%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9787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Specificity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66.51%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76.28%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43988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46330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9887D-9A93-9CF1-97AB-661CD1152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comparison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5B2FF-30DF-66BD-1511-CFE64B0FD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NB outperformed KNN across all three metrics.</a:t>
            </a:r>
          </a:p>
          <a:p>
            <a:r>
              <a:rPr lang="en-US" dirty="0"/>
              <a:t>My sensitivities were both over 60%</a:t>
            </a:r>
          </a:p>
          <a:p>
            <a:pPr lvl="1"/>
            <a:r>
              <a:rPr lang="en-US" dirty="0"/>
              <a:t>This is predicting employees that left the company.</a:t>
            </a:r>
          </a:p>
          <a:p>
            <a:r>
              <a:rPr lang="en-US" dirty="0"/>
              <a:t>My specificities were both over 66%</a:t>
            </a:r>
          </a:p>
          <a:p>
            <a:pPr lvl="1"/>
            <a:r>
              <a:rPr lang="en-US" dirty="0"/>
              <a:t>This predicts employees that stayed at the company. </a:t>
            </a:r>
          </a:p>
        </p:txBody>
      </p:sp>
    </p:spTree>
    <p:extLst>
      <p:ext uri="{BB962C8B-B14F-4D97-AF65-F5344CB8AC3E}">
        <p14:creationId xmlns:p14="http://schemas.microsoft.com/office/powerpoint/2010/main" val="3975959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196D3-C707-3D70-28A1-559CB47C2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Costs associated 50% costs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D0C9B77-E222-8261-847B-78A518F045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909068"/>
              </p:ext>
            </p:extLst>
          </p:nvPr>
        </p:nvGraphicFramePr>
        <p:xfrm>
          <a:off x="612775" y="1716088"/>
          <a:ext cx="10653711" cy="293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1237">
                  <a:extLst>
                    <a:ext uri="{9D8B030D-6E8A-4147-A177-3AD203B41FA5}">
                      <a16:colId xmlns:a16="http://schemas.microsoft.com/office/drawing/2014/main" val="1303696770"/>
                    </a:ext>
                  </a:extLst>
                </a:gridCol>
                <a:gridCol w="3551237">
                  <a:extLst>
                    <a:ext uri="{9D8B030D-6E8A-4147-A177-3AD203B41FA5}">
                      <a16:colId xmlns:a16="http://schemas.microsoft.com/office/drawing/2014/main" val="1356449705"/>
                    </a:ext>
                  </a:extLst>
                </a:gridCol>
                <a:gridCol w="3551237">
                  <a:extLst>
                    <a:ext uri="{9D8B030D-6E8A-4147-A177-3AD203B41FA5}">
                      <a16:colId xmlns:a16="http://schemas.microsoft.com/office/drawing/2014/main" val="393042465"/>
                    </a:ext>
                  </a:extLst>
                </a:gridCol>
              </a:tblGrid>
              <a:tr h="733028"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Total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Potential Savings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575353"/>
                  </a:ext>
                </a:extLst>
              </a:tr>
              <a:tr h="7330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$1,282,128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$0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3172673"/>
                  </a:ext>
                </a:extLst>
              </a:tr>
              <a:tr h="7330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KNN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$693,212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$588,916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7533495"/>
                  </a:ext>
                </a:extLst>
              </a:tr>
              <a:tr h="7330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Naive Bayes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$653,016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$629,112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31735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32345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27BE3-CBD6-28D3-4B7E-C9F62F4BE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3E56B-BC9B-24B0-7FAB-6E15A5501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Costs associated 400% costs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1D9D1A5-95DD-D023-27AC-0510BC8677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6269368"/>
              </p:ext>
            </p:extLst>
          </p:nvPr>
        </p:nvGraphicFramePr>
        <p:xfrm>
          <a:off x="612775" y="1716088"/>
          <a:ext cx="10653711" cy="293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1237">
                  <a:extLst>
                    <a:ext uri="{9D8B030D-6E8A-4147-A177-3AD203B41FA5}">
                      <a16:colId xmlns:a16="http://schemas.microsoft.com/office/drawing/2014/main" val="1303696770"/>
                    </a:ext>
                  </a:extLst>
                </a:gridCol>
                <a:gridCol w="3551237">
                  <a:extLst>
                    <a:ext uri="{9D8B030D-6E8A-4147-A177-3AD203B41FA5}">
                      <a16:colId xmlns:a16="http://schemas.microsoft.com/office/drawing/2014/main" val="1356449705"/>
                    </a:ext>
                  </a:extLst>
                </a:gridCol>
                <a:gridCol w="3551237">
                  <a:extLst>
                    <a:ext uri="{9D8B030D-6E8A-4147-A177-3AD203B41FA5}">
                      <a16:colId xmlns:a16="http://schemas.microsoft.com/office/drawing/2014/main" val="393042465"/>
                    </a:ext>
                  </a:extLst>
                </a:gridCol>
              </a:tblGrid>
              <a:tr h="733028"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Total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Potential Savings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575353"/>
                  </a:ext>
                </a:extLst>
              </a:tr>
              <a:tr h="7330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$10,257,024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$0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3172673"/>
                  </a:ext>
                </a:extLst>
              </a:tr>
              <a:tr h="7330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$5,405,696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$4,851,328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7533495"/>
                  </a:ext>
                </a:extLst>
              </a:tr>
              <a:tr h="7330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Naive Bayes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$5,110,728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$5,146,296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31735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67390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BFA9A-6D7C-8C6B-C054-1A0229C74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2F711-3FF5-FF52-7002-BEA44350C4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Both models show potential to reduce costs related to attrition; however, NB estimates more savings and less costs for retention. </a:t>
            </a:r>
          </a:p>
        </p:txBody>
      </p:sp>
    </p:spTree>
    <p:extLst>
      <p:ext uri="{BB962C8B-B14F-4D97-AF65-F5344CB8AC3E}">
        <p14:creationId xmlns:p14="http://schemas.microsoft.com/office/powerpoint/2010/main" val="3864002762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1966</TotalTime>
  <Words>629</Words>
  <Application>Microsoft Macintosh PowerPoint</Application>
  <PresentationFormat>Widescreen</PresentationFormat>
  <Paragraphs>116</Paragraphs>
  <Slides>15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Neue Haas Grotesk Text Pro</vt:lpstr>
      <vt:lpstr>VanillaVTI</vt:lpstr>
      <vt:lpstr>Case Study 1</vt:lpstr>
      <vt:lpstr>Objectives</vt:lpstr>
      <vt:lpstr>Frito Lay Attrition</vt:lpstr>
      <vt:lpstr>What factors may lead to Attrition?</vt:lpstr>
      <vt:lpstr>What factors may lead to Attrition?</vt:lpstr>
      <vt:lpstr>What factors may lead to Attrition?</vt:lpstr>
      <vt:lpstr>Additional factors that may lead to Attrition?</vt:lpstr>
      <vt:lpstr>3 characteristics that account for largest differences in Attrition. </vt:lpstr>
      <vt:lpstr>KNN</vt:lpstr>
      <vt:lpstr>NB</vt:lpstr>
      <vt:lpstr>KNN vs NB</vt:lpstr>
      <vt:lpstr>Model comparison </vt:lpstr>
      <vt:lpstr>Costs associated 50% costs</vt:lpstr>
      <vt:lpstr>Costs associated 400% costs</vt:lpstr>
      <vt:lpstr>Findings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Javonte Starling</dc:creator>
  <cp:lastModifiedBy>Javonte Starling</cp:lastModifiedBy>
  <cp:revision>6</cp:revision>
  <dcterms:created xsi:type="dcterms:W3CDTF">2026-10-13T22:52:09Z</dcterms:created>
  <dcterms:modified xsi:type="dcterms:W3CDTF">2026-10-24T18:51:23Z</dcterms:modified>
</cp:coreProperties>
</file>